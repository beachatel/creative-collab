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9BD8F9-3EF9-4590-84F6-804F53A1E1CE}">
  <a:tblStyle styleId="{679BD8F9-3EF9-4590-84F6-804F53A1E1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Oswald-bold.fntdata"/><Relationship Id="rId14" Type="http://schemas.openxmlformats.org/officeDocument/2006/relationships/font" Target="fonts/Oswald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8785ad708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8785ad708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8785ad708a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8785ad708a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87c871a08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87c871a08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8942d84ae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8942d84ae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87c871a08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87c871a08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87c871a083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87c871a083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Relationship Id="rId4" Type="http://schemas.openxmlformats.org/officeDocument/2006/relationships/image" Target="../media/image1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hyperlink" Target="http://drive.google.com/file/d/122_icL7l6yP4S64UFzRKp9TTVtIUH51F/view" TargetMode="External"/><Relationship Id="rId7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jpg"/><Relationship Id="rId4" Type="http://schemas.openxmlformats.org/officeDocument/2006/relationships/image" Target="../media/image3.png"/><Relationship Id="rId9" Type="http://schemas.openxmlformats.org/officeDocument/2006/relationships/image" Target="../media/image7.jp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9.png"/><Relationship Id="rId8" Type="http://schemas.openxmlformats.org/officeDocument/2006/relationships/hyperlink" Target="http://drive.google.com/file/d/1ZxYYPeKpoLRQWIYR-kOtfQINJyq4iRdN/view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hyperlink" Target="http://drive.google.com/file/d/1_jxVC1P6rssFxyF88BJndCoGNTVoY2Lm/view" TargetMode="External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Relationship Id="rId4" Type="http://schemas.openxmlformats.org/officeDocument/2006/relationships/hyperlink" Target="http://p5.js" TargetMode="External"/><Relationship Id="rId11" Type="http://schemas.openxmlformats.org/officeDocument/2006/relationships/image" Target="../media/image16.jpg"/><Relationship Id="rId10" Type="http://schemas.openxmlformats.org/officeDocument/2006/relationships/hyperlink" Target="http://drive.google.com/file/d/1bYfh6KHJ5zqImz3JwDEv8spS-9Opy5k6/view" TargetMode="External"/><Relationship Id="rId9" Type="http://schemas.openxmlformats.org/officeDocument/2006/relationships/image" Target="../media/image14.jpg"/><Relationship Id="rId5" Type="http://schemas.openxmlformats.org/officeDocument/2006/relationships/hyperlink" Target="http://ml5.js" TargetMode="External"/><Relationship Id="rId6" Type="http://schemas.openxmlformats.org/officeDocument/2006/relationships/image" Target="../media/image15.jpg"/><Relationship Id="rId7" Type="http://schemas.openxmlformats.org/officeDocument/2006/relationships/image" Target="../media/image17.png"/><Relationship Id="rId8" Type="http://schemas.openxmlformats.org/officeDocument/2006/relationships/hyperlink" Target="http://drive.google.com/file/d/1GEYpb4QszkH8PwKCT6MzxdlwKsra2qQC/view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8423A"/>
            </a:gs>
            <a:gs pos="100000">
              <a:srgbClr val="E0D7AB"/>
            </a:gs>
          </a:gsLst>
          <a:lin ang="5400012" scaled="0"/>
        </a:gra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3599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Untitled_Artwork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8238" y="0"/>
            <a:ext cx="51435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Untitled_Artwork.png"/>
          <p:cNvPicPr preferRelativeResize="0"/>
          <p:nvPr/>
        </p:nvPicPr>
        <p:blipFill rotWithShape="1">
          <a:blip r:embed="rId4">
            <a:alphaModFix/>
          </a:blip>
          <a:srcRect b="0" l="59011" r="0" t="0"/>
          <a:stretch/>
        </p:blipFill>
        <p:spPr>
          <a:xfrm>
            <a:off x="1" y="0"/>
            <a:ext cx="210825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Untitled_Artwork.png"/>
          <p:cNvPicPr preferRelativeResize="0"/>
          <p:nvPr/>
        </p:nvPicPr>
        <p:blipFill rotWithShape="1">
          <a:blip r:embed="rId4">
            <a:alphaModFix/>
          </a:blip>
          <a:srcRect b="0" l="0" r="59011" t="0"/>
          <a:stretch/>
        </p:blipFill>
        <p:spPr>
          <a:xfrm>
            <a:off x="7251751" y="0"/>
            <a:ext cx="210825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>
            <p:ph type="ctrTitle"/>
          </p:nvPr>
        </p:nvSpPr>
        <p:spPr>
          <a:xfrm>
            <a:off x="311707" y="-42175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Constellations</a:t>
            </a:r>
            <a:r>
              <a:rPr lang="en" sz="42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 of Us inspired</a:t>
            </a:r>
            <a:endParaRPr sz="42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311700" y="4023392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Interactive Installation</a:t>
            </a:r>
            <a:endParaRPr sz="42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8423A"/>
            </a:gs>
            <a:gs pos="100000">
              <a:srgbClr val="E0D7AB"/>
            </a:gs>
          </a:gsLst>
          <a:lin ang="5400012" scaled="0"/>
        </a:gra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type="ctrTitle"/>
          </p:nvPr>
        </p:nvSpPr>
        <p:spPr>
          <a:xfrm>
            <a:off x="-1280608" y="-1284123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Interactive Installation - Overall Vision</a:t>
            </a:r>
            <a:endParaRPr sz="30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732450" y="858578"/>
            <a:ext cx="76791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B2AB88"/>
                </a:solidFill>
              </a:rPr>
              <a:t>Become part of the stars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Our vision is to create an immersive and interactive installation that allows the public to create a unique starscape. 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The aim is for it to allow families and groups to experiment with the visuals and sounds that can be created with their body position and collaboration.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B2AB88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128025" y="4400720"/>
            <a:ext cx="5103900" cy="9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Possible art styles for animated visuals. The use of clip studio and other software to animate stars and space artifacts.</a:t>
            </a:r>
            <a:endParaRPr sz="11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2AB88"/>
              </a:solidFill>
            </a:endParaRPr>
          </a:p>
        </p:txBody>
      </p:sp>
      <p:pic>
        <p:nvPicPr>
          <p:cNvPr id="68" name="Google Shape;6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173" y="1667475"/>
            <a:ext cx="4156132" cy="2336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65025" y="1667475"/>
            <a:ext cx="4214824" cy="237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spiral space.mp4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37187" y="3311875"/>
            <a:ext cx="1069625" cy="1059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8423A"/>
            </a:gs>
            <a:gs pos="100000">
              <a:srgbClr val="E0D7AB"/>
            </a:gs>
          </a:gsLst>
          <a:lin ang="5400012" scaled="0"/>
        </a:gra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/>
          <p:cNvPicPr preferRelativeResize="0"/>
          <p:nvPr/>
        </p:nvPicPr>
        <p:blipFill rotWithShape="1">
          <a:blip r:embed="rId4">
            <a:alphaModFix/>
          </a:blip>
          <a:srcRect b="8759" l="0" r="0" t="0"/>
          <a:stretch/>
        </p:blipFill>
        <p:spPr>
          <a:xfrm>
            <a:off x="2813688" y="1450845"/>
            <a:ext cx="3516625" cy="258902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5"/>
          <p:cNvSpPr txBox="1"/>
          <p:nvPr>
            <p:ph type="ctrTitle"/>
          </p:nvPr>
        </p:nvSpPr>
        <p:spPr>
          <a:xfrm>
            <a:off x="-2476843" y="-1356180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Constellations of Us</a:t>
            </a:r>
            <a:endParaRPr sz="30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78" name="Google Shape;78;p15"/>
          <p:cNvSpPr txBox="1"/>
          <p:nvPr>
            <p:ph idx="1" type="subTitle"/>
          </p:nvPr>
        </p:nvSpPr>
        <p:spPr>
          <a:xfrm>
            <a:off x="-934198" y="4765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Oswald"/>
                <a:ea typeface="Oswald"/>
                <a:cs typeface="Oswald"/>
                <a:sym typeface="Oswald"/>
              </a:rPr>
              <a:t>Interactive Installation - Places of inspiration</a:t>
            </a:r>
            <a:endParaRPr sz="24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138684" y="1085595"/>
            <a:ext cx="8885700" cy="9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Our installation should evolve based on active participants whose bodies trigger changes in the artwork. </a:t>
            </a:r>
            <a:endParaRPr sz="11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2AB88"/>
              </a:solidFill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4">
            <a:alphaModFix/>
          </a:blip>
          <a:srcRect b="8759" l="0" r="0" t="0"/>
          <a:stretch/>
        </p:blipFill>
        <p:spPr>
          <a:xfrm>
            <a:off x="356561" y="1670452"/>
            <a:ext cx="2838825" cy="2090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/>
          <p:cNvPicPr preferRelativeResize="0"/>
          <p:nvPr/>
        </p:nvPicPr>
        <p:blipFill rotWithShape="1">
          <a:blip r:embed="rId5">
            <a:alphaModFix/>
          </a:blip>
          <a:srcRect b="6437" l="0" r="0" t="0"/>
          <a:stretch/>
        </p:blipFill>
        <p:spPr>
          <a:xfrm>
            <a:off x="603050" y="1802103"/>
            <a:ext cx="2966300" cy="1784409"/>
          </a:xfrm>
          <a:prstGeom prst="rect">
            <a:avLst/>
          </a:prstGeom>
          <a:noFill/>
          <a:ln>
            <a:noFill/>
          </a:ln>
          <a:effectLst>
            <a:outerShdw blurRad="342900" rotWithShape="0" algn="bl" dir="5400000" dist="76200">
              <a:schemeClr val="lt1">
                <a:alpha val="70000"/>
              </a:schemeClr>
            </a:outerShdw>
          </a:effectLst>
        </p:spPr>
      </p:pic>
      <p:pic>
        <p:nvPicPr>
          <p:cNvPr id="82" name="Google Shape;82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15143" y="1682965"/>
            <a:ext cx="2383958" cy="2052600"/>
          </a:xfrm>
          <a:prstGeom prst="rect">
            <a:avLst/>
          </a:prstGeom>
          <a:noFill/>
          <a:ln>
            <a:noFill/>
          </a:ln>
          <a:effectLst>
            <a:outerShdw blurRad="200025" rotWithShape="0" algn="bl" dir="5400000" dist="114300">
              <a:schemeClr val="lt1">
                <a:alpha val="50000"/>
              </a:schemeClr>
            </a:outerShdw>
          </a:effectLst>
        </p:spPr>
      </p:pic>
      <p:sp>
        <p:nvSpPr>
          <p:cNvPr id="83" name="Google Shape;83;p15"/>
          <p:cNvSpPr txBox="1"/>
          <p:nvPr/>
        </p:nvSpPr>
        <p:spPr>
          <a:xfrm>
            <a:off x="1039175" y="4126976"/>
            <a:ext cx="69453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As an example; Jason Bruges is a multimedia </a:t>
            </a:r>
            <a:r>
              <a:rPr lang="en" sz="1000">
                <a:solidFill>
                  <a:srgbClr val="B2AB88"/>
                </a:solidFill>
              </a:rPr>
              <a:t>artist</a:t>
            </a:r>
            <a:r>
              <a:rPr lang="en" sz="1000">
                <a:solidFill>
                  <a:srgbClr val="B2AB88"/>
                </a:solidFill>
              </a:rPr>
              <a:t> who creates bespoke installations, often responding to the presence of the public.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These examples use LEDs which isn’t our plan, but are successful </a:t>
            </a:r>
            <a:r>
              <a:rPr lang="en" sz="1000">
                <a:solidFill>
                  <a:srgbClr val="B2AB88"/>
                </a:solidFill>
              </a:rPr>
              <a:t>examples</a:t>
            </a:r>
            <a:r>
              <a:rPr lang="en" sz="1000">
                <a:solidFill>
                  <a:srgbClr val="B2AB88"/>
                </a:solidFill>
              </a:rPr>
              <a:t> of interaction based artwork.</a:t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84" name="Google Shape;84;p15"/>
          <p:cNvPicPr preferRelativeResize="0"/>
          <p:nvPr/>
        </p:nvPicPr>
        <p:blipFill rotWithShape="1">
          <a:blip r:embed="rId4">
            <a:alphaModFix/>
          </a:blip>
          <a:srcRect b="8759" l="0" r="0" t="0"/>
          <a:stretch/>
        </p:blipFill>
        <p:spPr>
          <a:xfrm>
            <a:off x="5981413" y="1665868"/>
            <a:ext cx="2838825" cy="2090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899099" y="1802124"/>
            <a:ext cx="2701725" cy="1784400"/>
          </a:xfrm>
          <a:prstGeom prst="rect">
            <a:avLst/>
          </a:prstGeom>
          <a:noFill/>
          <a:ln>
            <a:noFill/>
          </a:ln>
          <a:effectLst>
            <a:outerShdw blurRad="357188" rotWithShape="0" algn="bl" dir="5400000" dist="114300">
              <a:schemeClr val="lt1">
                <a:alpha val="72000"/>
              </a:schemeClr>
            </a:outerShdw>
          </a:effectLst>
        </p:spPr>
      </p:pic>
      <p:pic>
        <p:nvPicPr>
          <p:cNvPr id="86" name="Google Shape;86;p15" title="Recording 2025-09-30 134313.mp4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179219" y="1664263"/>
            <a:ext cx="2786666" cy="209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8423A"/>
            </a:gs>
            <a:gs pos="100000">
              <a:srgbClr val="E0D7AB"/>
            </a:gs>
          </a:gsLst>
          <a:lin ang="5400012" scaled="0"/>
        </a:gra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6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>
            <p:ph idx="1" type="subTitle"/>
          </p:nvPr>
        </p:nvSpPr>
        <p:spPr>
          <a:xfrm>
            <a:off x="-1582833" y="156972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latin typeface="Oswald"/>
                <a:ea typeface="Oswald"/>
                <a:cs typeface="Oswald"/>
                <a:sym typeface="Oswald"/>
              </a:rPr>
              <a:t>Interactive Installation - Projection</a:t>
            </a:r>
            <a:endParaRPr sz="2700"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93" name="Google Shape;93;p16" title="IMG_6863.mo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076" y="1796850"/>
            <a:ext cx="4016966" cy="301272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/>
          <p:nvPr/>
        </p:nvSpPr>
        <p:spPr>
          <a:xfrm>
            <a:off x="520400" y="883336"/>
            <a:ext cx="8121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Projection mapping allows the visuals to be played on any surface, this means we can set up an installation in different ways.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 Could take up sides of a room, a singular wall/projector screen or projected onto object setups. Could even be projected outside the building? Sensing people entering and exiting the building.</a:t>
            </a:r>
            <a:endParaRPr sz="11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2AB88"/>
              </a:solidFill>
            </a:endParaRPr>
          </a:p>
        </p:txBody>
      </p:sp>
      <p:pic>
        <p:nvPicPr>
          <p:cNvPr id="95" name="Google Shape;95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22905" y="3326800"/>
            <a:ext cx="2756299" cy="1550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05373" y="2668950"/>
            <a:ext cx="2131666" cy="1421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84529" y="1853315"/>
            <a:ext cx="2072300" cy="13022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D4D4D"/>
            </a:gs>
            <a:gs pos="100000">
              <a:srgbClr val="000000"/>
            </a:gs>
          </a:gsLst>
          <a:lin ang="5400012" scaled="0"/>
        </a:gra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7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7"/>
          <p:cNvSpPr txBox="1"/>
          <p:nvPr>
            <p:ph type="ctrTitle"/>
          </p:nvPr>
        </p:nvSpPr>
        <p:spPr>
          <a:xfrm>
            <a:off x="-3584931" y="-1341233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Sound </a:t>
            </a:r>
            <a:endParaRPr sz="30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301150" y="650475"/>
            <a:ext cx="8121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Sound is </a:t>
            </a:r>
            <a:r>
              <a:rPr lang="en" sz="1000">
                <a:solidFill>
                  <a:srgbClr val="B2AB88"/>
                </a:solidFill>
              </a:rPr>
              <a:t>generated </a:t>
            </a:r>
            <a:r>
              <a:rPr lang="en" sz="1000">
                <a:solidFill>
                  <a:srgbClr val="B2AB88"/>
                </a:solidFill>
              </a:rPr>
              <a:t>in JavaScript using </a:t>
            </a:r>
            <a:r>
              <a:rPr lang="en" sz="1000" u="sng">
                <a:solidFill>
                  <a:schemeClr val="hlink"/>
                </a:solidFill>
                <a:hlinkClick r:id="rId4"/>
              </a:rPr>
              <a:t>p5.js</a:t>
            </a:r>
            <a:r>
              <a:rPr lang="en" sz="1000">
                <a:solidFill>
                  <a:srgbClr val="B2AB88"/>
                </a:solidFill>
              </a:rPr>
              <a:t> and </a:t>
            </a:r>
            <a:r>
              <a:rPr lang="en" sz="1000" u="sng">
                <a:solidFill>
                  <a:schemeClr val="hlink"/>
                </a:solidFill>
                <a:hlinkClick r:id="rId5"/>
              </a:rPr>
              <a:t>ml5.js</a:t>
            </a:r>
            <a:r>
              <a:rPr lang="en" sz="1000">
                <a:solidFill>
                  <a:srgbClr val="B2AB88"/>
                </a:solidFill>
              </a:rPr>
              <a:t>. A camera tracks body position and sends it over the web MIDI library. This data is then </a:t>
            </a:r>
            <a:r>
              <a:rPr lang="en" sz="1000">
                <a:solidFill>
                  <a:srgbClr val="B2AB88"/>
                </a:solidFill>
              </a:rPr>
              <a:t>received</a:t>
            </a:r>
            <a:r>
              <a:rPr lang="en" sz="1000">
                <a:solidFill>
                  <a:srgbClr val="B2AB88"/>
                </a:solidFill>
              </a:rPr>
              <a:t> in Ableton Live and </a:t>
            </a:r>
            <a:r>
              <a:rPr lang="en" sz="1000">
                <a:solidFill>
                  <a:srgbClr val="B2AB88"/>
                </a:solidFill>
              </a:rPr>
              <a:t>directly</a:t>
            </a:r>
            <a:r>
              <a:rPr lang="en" sz="1000">
                <a:solidFill>
                  <a:srgbClr val="B2AB88"/>
                </a:solidFill>
              </a:rPr>
              <a:t> creates MIDI notes so s</a:t>
            </a:r>
            <a:r>
              <a:rPr lang="en" sz="1000">
                <a:solidFill>
                  <a:srgbClr val="B2AB88"/>
                </a:solidFill>
              </a:rPr>
              <a:t>ound</a:t>
            </a:r>
            <a:r>
              <a:rPr lang="en" sz="1000">
                <a:solidFill>
                  <a:srgbClr val="B2AB88"/>
                </a:solidFill>
              </a:rPr>
              <a:t> generation is happening in real time based on users body 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position. </a:t>
            </a:r>
            <a:endParaRPr sz="1000">
              <a:solidFill>
                <a:srgbClr val="B2AB88"/>
              </a:solidFill>
            </a:endParaRPr>
          </a:p>
        </p:txBody>
      </p:sp>
      <p:pic>
        <p:nvPicPr>
          <p:cNvPr descr="Open-Source Virtual Eurorack Modular ..." id="105" name="Google Shape;105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35675" y="1183350"/>
            <a:ext cx="2828925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41549" y="2796450"/>
            <a:ext cx="3680890" cy="21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7" title="Two People.mov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50833" y="2934625"/>
            <a:ext cx="3017866" cy="188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 title="Test with crowd - local video.mov">
            <a:hlinkClick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029300" y="1183350"/>
            <a:ext cx="2590812" cy="1619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8423A"/>
            </a:gs>
            <a:gs pos="100000">
              <a:srgbClr val="E0D7AB"/>
            </a:gs>
          </a:gsLst>
          <a:lin ang="5400012" scaled="0"/>
        </a:gra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8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8"/>
          <p:cNvSpPr txBox="1"/>
          <p:nvPr>
            <p:ph type="ctrTitle"/>
          </p:nvPr>
        </p:nvSpPr>
        <p:spPr>
          <a:xfrm>
            <a:off x="-2340771" y="-1356180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Constellations of Us</a:t>
            </a:r>
            <a:endParaRPr sz="30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15" name="Google Shape;115;p18"/>
          <p:cNvSpPr txBox="1"/>
          <p:nvPr>
            <p:ph idx="1" type="subTitle"/>
          </p:nvPr>
        </p:nvSpPr>
        <p:spPr>
          <a:xfrm>
            <a:off x="-2313603" y="223833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latin typeface="Oswald"/>
                <a:ea typeface="Oswald"/>
                <a:cs typeface="Oswald"/>
                <a:sym typeface="Oswald"/>
              </a:rPr>
              <a:t>Project Schedule</a:t>
            </a:r>
            <a:endParaRPr sz="2700">
              <a:latin typeface="Oswald"/>
              <a:ea typeface="Oswald"/>
              <a:cs typeface="Oswald"/>
              <a:sym typeface="Oswald"/>
            </a:endParaRPr>
          </a:p>
        </p:txBody>
      </p:sp>
      <p:graphicFrame>
        <p:nvGraphicFramePr>
          <p:cNvPr id="116" name="Google Shape;116;p18"/>
          <p:cNvGraphicFramePr/>
          <p:nvPr/>
        </p:nvGraphicFramePr>
        <p:xfrm>
          <a:off x="1016050" y="3228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{679BD8F9-3EF9-4590-84F6-804F53A1E1CE}</a:tableStyleId>
              </a:tblPr>
              <a:tblGrid>
                <a:gridCol w="1416950"/>
                <a:gridCol w="2923625"/>
                <a:gridCol w="2771325"/>
              </a:tblGrid>
              <a:tr h="230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2AB88"/>
                          </a:solidFill>
                        </a:rPr>
                        <a:t>Month</a:t>
                      </a:r>
                      <a:endParaRPr sz="1300"/>
                    </a:p>
                  </a:txBody>
                  <a:tcPr marT="91425" marB="91425" marR="91425" marL="91425">
                    <a:solidFill>
                      <a:srgbClr val="E0D7A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2AB88"/>
                          </a:solidFill>
                        </a:rPr>
                        <a:t>Task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E0D7A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2AB88"/>
                          </a:solidFill>
                        </a:rPr>
                        <a:t>Notes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E0D7AB"/>
                    </a:solidFill>
                  </a:tcPr>
                </a:tc>
              </a:tr>
              <a:tr h="32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Month 1</a:t>
                      </a:r>
                      <a:endParaRPr sz="1000">
                        <a:solidFill>
                          <a:srgbClr val="E0D7AB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Research, ideation, exploration and prototyping</a:t>
                      </a:r>
                      <a:endParaRPr sz="1000">
                        <a:solidFill>
                          <a:srgbClr val="E0D7AB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Social media behind the scenes content.</a:t>
                      </a:r>
                      <a:endParaRPr sz="1000">
                        <a:solidFill>
                          <a:srgbClr val="E0D7AB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Solidifying the</a:t>
                      </a: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 idea and begin a mock-up of the final concept - testing 3D materials for the projection setup, creating concept art and finalising the design language of the piece.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Month 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Refining and further development.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Finalise physical spacing and develop more promotional </a:t>
                      </a:r>
                      <a:r>
                        <a:rPr lang="en" sz="1000">
                          <a:solidFill>
                            <a:srgbClr val="E0D7AB"/>
                          </a:solidFill>
                        </a:rPr>
                        <a:t>material.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7" name="Google Shape;117;p18"/>
          <p:cNvSpPr txBox="1"/>
          <p:nvPr/>
        </p:nvSpPr>
        <p:spPr>
          <a:xfrm>
            <a:off x="665305" y="2778725"/>
            <a:ext cx="68256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Early Stage Project Schedule: Using agile work methodology to produce a working prototype as quick as possible </a:t>
            </a:r>
            <a:endParaRPr sz="11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2AB88"/>
              </a:solidFill>
            </a:endParaRPr>
          </a:p>
        </p:txBody>
      </p:sp>
      <p:sp>
        <p:nvSpPr>
          <p:cNvPr id="118" name="Google Shape;118;p18"/>
          <p:cNvSpPr txBox="1"/>
          <p:nvPr>
            <p:ph idx="1" type="subTitle"/>
          </p:nvPr>
        </p:nvSpPr>
        <p:spPr>
          <a:xfrm>
            <a:off x="-2724838" y="561861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latin typeface="Oswald"/>
                <a:ea typeface="Oswald"/>
                <a:cs typeface="Oswald"/>
                <a:sym typeface="Oswald"/>
              </a:rPr>
              <a:t>Team Roles</a:t>
            </a:r>
            <a:endParaRPr sz="27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642875" y="1172500"/>
            <a:ext cx="6825600" cy="10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To ensure we can complete the project on time it is important to split the concept into smaller more manageable tasks that can be worked on simultaneously by different </a:t>
            </a:r>
            <a:r>
              <a:rPr lang="en" sz="1000">
                <a:solidFill>
                  <a:srgbClr val="B2AB88"/>
                </a:solidFill>
              </a:rPr>
              <a:t>members</a:t>
            </a:r>
            <a:r>
              <a:rPr lang="en" sz="1000">
                <a:solidFill>
                  <a:srgbClr val="B2AB88"/>
                </a:solidFill>
              </a:rPr>
              <a:t> of the team.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B2AB88"/>
                </a:solidFill>
              </a:rPr>
              <a:t>Bea - Focus on sound and body interaction &amp; promotional material 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B2AB88"/>
                </a:solidFill>
              </a:rPr>
              <a:t>Fliss - Focus on body interaction and ensuring cohesiveness across all fronts &amp; promotional material 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Conor and </a:t>
            </a:r>
            <a:r>
              <a:rPr lang="en" sz="1000">
                <a:solidFill>
                  <a:srgbClr val="B2AB88"/>
                </a:solidFill>
              </a:rPr>
              <a:t>Noa - Visuals (animation) &amp; social media</a:t>
            </a:r>
            <a:endParaRPr sz="1100">
              <a:solidFill>
                <a:srgbClr val="B2AB8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2AB88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8423A"/>
            </a:gs>
            <a:gs pos="100000">
              <a:srgbClr val="E0D7AB"/>
            </a:gs>
          </a:gsLst>
          <a:lin ang="540001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9" title="stars-night-textured-backdr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9"/>
          <p:cNvSpPr txBox="1"/>
          <p:nvPr>
            <p:ph type="ctrTitle"/>
          </p:nvPr>
        </p:nvSpPr>
        <p:spPr>
          <a:xfrm>
            <a:off x="-2340771" y="-1356180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Constellations of Us</a:t>
            </a:r>
            <a:endParaRPr sz="30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6" name="Google Shape;126;p19"/>
          <p:cNvSpPr txBox="1"/>
          <p:nvPr>
            <p:ph idx="1" type="subTitle"/>
          </p:nvPr>
        </p:nvSpPr>
        <p:spPr>
          <a:xfrm>
            <a:off x="-1453904" y="416717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latin typeface="Oswald"/>
                <a:ea typeface="Oswald"/>
                <a:cs typeface="Oswald"/>
                <a:sym typeface="Oswald"/>
              </a:rPr>
              <a:t>Intended Audience</a:t>
            </a:r>
            <a:endParaRPr sz="27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7" name="Google Shape;127;p19"/>
          <p:cNvSpPr txBox="1"/>
          <p:nvPr/>
        </p:nvSpPr>
        <p:spPr>
          <a:xfrm>
            <a:off x="500575" y="1181266"/>
            <a:ext cx="6825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The installation should peak the </a:t>
            </a:r>
            <a:r>
              <a:rPr lang="en" sz="1000">
                <a:solidFill>
                  <a:srgbClr val="B2AB88"/>
                </a:solidFill>
              </a:rPr>
              <a:t>public's</a:t>
            </a:r>
            <a:r>
              <a:rPr lang="en" sz="1000">
                <a:solidFill>
                  <a:srgbClr val="B2AB88"/>
                </a:solidFill>
              </a:rPr>
              <a:t> </a:t>
            </a:r>
            <a:r>
              <a:rPr lang="en" sz="1000">
                <a:solidFill>
                  <a:srgbClr val="B2AB88"/>
                </a:solidFill>
              </a:rPr>
              <a:t>interest so that they are curious enough to interact and play around with movement and collaboration.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2AB88"/>
                </a:solidFill>
              </a:rPr>
              <a:t>The hope is for kids and adults alike to enjoy the experience of the piece so it must be to accessible to people of all ages: </a:t>
            </a:r>
            <a:endParaRPr sz="1000">
              <a:solidFill>
                <a:srgbClr val="B2AB88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2AB88"/>
              </a:buClr>
              <a:buSzPts val="1000"/>
              <a:buChar char="-"/>
            </a:pPr>
            <a:r>
              <a:rPr lang="en" sz="1000">
                <a:solidFill>
                  <a:srgbClr val="B2AB88"/>
                </a:solidFill>
              </a:rPr>
              <a:t>Easy to understand (intuitive)</a:t>
            </a:r>
            <a:endParaRPr sz="1000">
              <a:solidFill>
                <a:srgbClr val="B2AB88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2AB88"/>
              </a:buClr>
              <a:buSzPts val="1000"/>
              <a:buChar char="-"/>
            </a:pPr>
            <a:r>
              <a:rPr lang="en" sz="1000">
                <a:solidFill>
                  <a:srgbClr val="B2AB88"/>
                </a:solidFill>
              </a:rPr>
              <a:t>Playful and intriguing </a:t>
            </a:r>
            <a:endParaRPr sz="1000">
              <a:solidFill>
                <a:srgbClr val="B2AB88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2AB88"/>
              </a:buClr>
              <a:buSzPts val="1000"/>
              <a:buChar char="-"/>
            </a:pPr>
            <a:r>
              <a:rPr lang="en" sz="1000">
                <a:solidFill>
                  <a:srgbClr val="B2AB88"/>
                </a:solidFill>
              </a:rPr>
              <a:t>Engaging</a:t>
            </a:r>
            <a:endParaRPr sz="1000">
              <a:solidFill>
                <a:srgbClr val="B2AB88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2AB88"/>
              </a:buClr>
              <a:buSzPts val="1000"/>
              <a:buChar char="-"/>
            </a:pPr>
            <a:r>
              <a:rPr lang="en" sz="1000">
                <a:solidFill>
                  <a:srgbClr val="B2AB88"/>
                </a:solidFill>
              </a:rPr>
              <a:t>Responsive</a:t>
            </a:r>
            <a:endParaRPr sz="1000">
              <a:solidFill>
                <a:srgbClr val="B2AB8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B2AB88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2AB88"/>
              </a:solidFill>
            </a:endParaRPr>
          </a:p>
        </p:txBody>
      </p:sp>
      <p:sp>
        <p:nvSpPr>
          <p:cNvPr id="128" name="Google Shape;128;p19"/>
          <p:cNvSpPr txBox="1"/>
          <p:nvPr/>
        </p:nvSpPr>
        <p:spPr>
          <a:xfrm>
            <a:off x="2270850" y="3283472"/>
            <a:ext cx="4602300" cy="1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>
                <a:solidFill>
                  <a:srgbClr val="E0D7AB"/>
                </a:solidFill>
                <a:latin typeface="Oswald"/>
                <a:ea typeface="Oswald"/>
                <a:cs typeface="Oswald"/>
                <a:sym typeface="Oswald"/>
              </a:rPr>
              <a:t>Thanks for Listening!</a:t>
            </a:r>
            <a:endParaRPr sz="31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100">
              <a:solidFill>
                <a:srgbClr val="E0D7AB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